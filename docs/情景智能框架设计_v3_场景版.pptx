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90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情景智能框架设计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872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场景驱动 · 技术挑战 · 端侧智能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270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微软雅黑"/>
              </a:defRPr>
            </a:pPr>
            <a:r>
              <a:t>ClawdBot · AI 秘书 · v3.0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3312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微软雅黑"/>
              </a:defRPr>
            </a:pPr>
            <a:r>
              <a:t>2026-02-19 | 洪杰 &amp; Cecilia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愿景：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手机里的AI秘书，在对的时间做对的事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512000"/>
            <a:ext cx="3240000" cy="126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微软雅黑"/>
              </a:rPr>
              <a:t>🔍 感知
物理世界 + 数字世界</a:t>
            </a:r>
          </a:p>
        </p:txBody>
      </p:sp>
      <p:sp>
        <p:nvSpPr>
          <p:cNvPr id="4" name="Oval 3"/>
          <p:cNvSpPr/>
          <p:nvPr/>
        </p:nvSpPr>
        <p:spPr>
          <a:xfrm>
            <a:off x="68400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60000" y="1962000"/>
            <a:ext cx="444060" cy="36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76060" y="1512000"/>
            <a:ext cx="3240000" cy="126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微软雅黑"/>
              </a:rPr>
              <a:t>🧠 理解
用户需求和意图</a:t>
            </a:r>
          </a:p>
        </p:txBody>
      </p:sp>
      <p:sp>
        <p:nvSpPr>
          <p:cNvPr id="7" name="Oval 6"/>
          <p:cNvSpPr/>
          <p:nvPr/>
        </p:nvSpPr>
        <p:spPr>
          <a:xfrm>
            <a:off x="451206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788060" y="1962000"/>
            <a:ext cx="444060" cy="36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04120" y="1512000"/>
            <a:ext cx="3240000" cy="126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微软雅黑"/>
              </a:rPr>
              <a:t>🎯 行动
合适时机主动服务</a:t>
            </a:r>
          </a:p>
        </p:txBody>
      </p:sp>
      <p:sp>
        <p:nvSpPr>
          <p:cNvPr id="10" name="Oval 9"/>
          <p:cNvSpPr/>
          <p:nvPr/>
        </p:nvSpPr>
        <p:spPr>
          <a:xfrm>
            <a:off x="834012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420000"/>
            <a:ext cx="1089612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不是通用AI助手（不处理用户主动问答），不是通知管理器（不只是过滤转发）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而是：理解你的场景后，主动在最合适的时机提供最需要的服务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例：工作日早上7:30，你刚出门 → 自动推送通勤路况+天气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例：连续3天23点后还在用手机 → 温馨提醒早睡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核心原则：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隐私优先</a:t>
            </a:r>
            <a:r>
              <a:rPr sz="1300">
                <a:solidFill>
                  <a:srgbClr val="000000"/>
                </a:solidFill>
                <a:latin typeface="微软雅黑"/>
              </a:rPr>
              <a:t> |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本地优先</a:t>
            </a:r>
            <a:r>
              <a:rPr sz="1300">
                <a:solidFill>
                  <a:srgbClr val="000000"/>
                </a:solidFill>
                <a:latin typeface="微软雅黑"/>
              </a:rPr>
              <a:t> | 渐进智能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12个核心场景：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覆盖日常生活方方面面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368000"/>
            <a:ext cx="5220000" cy="79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🚗 通勤提醒  工作日+早上+出门 → 推路况天气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56000" y="1368000"/>
            <a:ext cx="5220000" cy="79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📱 重要消息  老婆/老板发消息 → 紧急通知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2268000"/>
            <a:ext cx="5220000" cy="79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🔋 低电量提醒  电量&lt;20%+未充电 → 提醒充电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6000" y="2268000"/>
            <a:ext cx="5220000" cy="79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🌙 睡前摘要  22-24点+在家 → 明日日程+天气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" y="3168000"/>
            <a:ext cx="5220000" cy="79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🍜 午餐推荐  工作日+中午+在公司 → 推餐厅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000" y="3168000"/>
            <a:ext cx="5220000" cy="79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📦 快递到达  快递通知+在家 → 提醒取件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000" y="4068000"/>
            <a:ext cx="5220000" cy="79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📧 消息堆积  10分钟内3+条未读 → 合并提醒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6000" y="4068000"/>
            <a:ext cx="5220000" cy="79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📅 会议准备  日历事件前15分钟 → 提醒+材料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8000" y="4968000"/>
            <a:ext cx="5220000" cy="79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🚗 回家路况  离开公司+上车 → 播报路况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000" y="4968000"/>
            <a:ext cx="5220000" cy="79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🏃 运动提醒  久坐&gt;2小时 → 建议活动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8000" y="5868000"/>
            <a:ext cx="5220000" cy="79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😴 睡眠建议  连续3天23点后用手机 → 建议早睡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000" y="5868000"/>
            <a:ext cx="5220000" cy="79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🔇 自动静音  进入会议室/电影院 → 静音手机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" y="5688000"/>
            <a:ext cx="10896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每个场景都需要：多维条件匹配 + 不确定性处理 + 个性化学习 + 低功耗运行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场景深度：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通勤提醒 — 看似简单，实则多维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440000"/>
            <a:ext cx="1980000" cy="108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📅 时间
工作日 7:00±30</a:t>
            </a:r>
          </a:p>
        </p:txBody>
      </p:sp>
      <p:sp>
        <p:nvSpPr>
          <p:cNvPr id="4" name="Oval 3"/>
          <p:cNvSpPr/>
          <p:nvPr/>
        </p:nvSpPr>
        <p:spPr>
          <a:xfrm>
            <a:off x="684000" y="1332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64000" y="1836000"/>
            <a:ext cx="14400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44000" y="1440000"/>
            <a:ext cx="1980000" cy="108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📍 位置
在家（多源融合）</a:t>
            </a:r>
          </a:p>
        </p:txBody>
      </p:sp>
      <p:sp>
        <p:nvSpPr>
          <p:cNvPr id="7" name="Oval 6"/>
          <p:cNvSpPr/>
          <p:nvPr/>
        </p:nvSpPr>
        <p:spPr>
          <a:xfrm>
            <a:off x="2880000" y="1332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60000" y="1836000"/>
            <a:ext cx="14400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40000" y="1440000"/>
            <a:ext cx="1980000" cy="108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🚶 运动
走路/开车/公交</a:t>
            </a:r>
          </a:p>
        </p:txBody>
      </p:sp>
      <p:sp>
        <p:nvSpPr>
          <p:cNvPr id="10" name="Oval 9"/>
          <p:cNvSpPr/>
          <p:nvPr/>
        </p:nvSpPr>
        <p:spPr>
          <a:xfrm>
            <a:off x="5076000" y="1332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56000" y="1836000"/>
            <a:ext cx="14400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36000" y="1440000"/>
            <a:ext cx="1980000" cy="108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🌤 天气
查询API</a:t>
            </a:r>
          </a:p>
        </p:txBody>
      </p:sp>
      <p:sp>
        <p:nvSpPr>
          <p:cNvPr id="13" name="Oval 12"/>
          <p:cNvSpPr/>
          <p:nvPr/>
        </p:nvSpPr>
        <p:spPr>
          <a:xfrm>
            <a:off x="7272000" y="1332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52000" y="1836000"/>
            <a:ext cx="14400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32000" y="1440000"/>
            <a:ext cx="1980000" cy="108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🚗 路况
查询导航</a:t>
            </a:r>
          </a:p>
        </p:txBody>
      </p:sp>
      <p:sp>
        <p:nvSpPr>
          <p:cNvPr id="16" name="Oval 15"/>
          <p:cNvSpPr/>
          <p:nvPr/>
        </p:nvSpPr>
        <p:spPr>
          <a:xfrm>
            <a:off x="9468000" y="1332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3096000"/>
            <a:ext cx="1089612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挑战1：时间不精确 — 7:15出门还是7:45？→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高斯衰减软匹配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挑战2：位置不确定 — GPS室内不准？→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GPS+WiFi+蓝牙多源融合</a:t>
            </a:r>
            <a:r>
              <a:rPr sz="1300">
                <a:solidFill>
                  <a:srgbClr val="000000"/>
                </a:solidFill>
                <a:latin typeface="微软雅黑"/>
              </a:rPr>
              <a:t>取最高置信度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挑战3：运动状态模糊 — 等红灯是静止还是开车？→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概率分布</a:t>
            </a:r>
            <a:r>
              <a:rPr sz="1300">
                <a:solidFill>
                  <a:srgbClr val="000000"/>
                </a:solidFill>
                <a:latin typeface="微软雅黑"/>
              </a:rPr>
              <a:t>{still:0.6, driving:0.4}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挑战4：周末误触发 — 周末也7点出门？→ 星期判断cost=1，放决策树顶层提前剪枝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挑战5：个性化差异 — 有人7:00出门，有人8:30 →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LinUCB在线学习</a:t>
            </a:r>
            <a:r>
              <a:rPr sz="1300">
                <a:solidFill>
                  <a:srgbClr val="000000"/>
                </a:solidFill>
                <a:latin typeface="微软雅黑"/>
              </a:rPr>
              <a:t>自动适应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挑战6：推送时机 — 太早没用，太晚来不及 → 通勤前15分钟推送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一个"简单"场景就涉及：软匹配+多源融合+概率分布+成本排序+强化学习+时机调度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场景深度：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重要消息 — 谁发的比内容更重要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512000"/>
            <a:ext cx="2160000" cy="115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📨 通知到达
拦截系统通知</a:t>
            </a:r>
          </a:p>
        </p:txBody>
      </p:sp>
      <p:sp>
        <p:nvSpPr>
          <p:cNvPr id="4" name="Oval 3"/>
          <p:cNvSpPr/>
          <p:nvPr/>
        </p:nvSpPr>
        <p:spPr>
          <a:xfrm>
            <a:off x="68400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44000" y="1944000"/>
            <a:ext cx="68004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60040" y="1512000"/>
            <a:ext cx="2160000" cy="115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👤 发送者识别
关键人 or 普通人</a:t>
            </a:r>
          </a:p>
        </p:txBody>
      </p:sp>
      <p:sp>
        <p:nvSpPr>
          <p:cNvPr id="7" name="Oval 6"/>
          <p:cNvSpPr/>
          <p:nvPr/>
        </p:nvSpPr>
        <p:spPr>
          <a:xfrm>
            <a:off x="359604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56040" y="1944000"/>
            <a:ext cx="68004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72080" y="1512000"/>
            <a:ext cx="2160000" cy="115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⚡ 紧急度判定
🔴/🟡/🟢/⚪</a:t>
            </a:r>
          </a:p>
        </p:txBody>
      </p:sp>
      <p:sp>
        <p:nvSpPr>
          <p:cNvPr id="10" name="Oval 9"/>
          <p:cNvSpPr/>
          <p:nvPr/>
        </p:nvSpPr>
        <p:spPr>
          <a:xfrm>
            <a:off x="650808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68080" y="1944000"/>
            <a:ext cx="68004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84120" y="1512000"/>
            <a:ext cx="2160000" cy="115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📢 推送决策
形式×用户状态</a:t>
            </a:r>
          </a:p>
        </p:txBody>
      </p:sp>
      <p:sp>
        <p:nvSpPr>
          <p:cNvPr id="13" name="Oval 12"/>
          <p:cNvSpPr/>
          <p:nvPr/>
        </p:nvSpPr>
        <p:spPr>
          <a:xfrm>
            <a:off x="942012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3312000"/>
            <a:ext cx="1089612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挑战1：隐私边界 — AI能看消息内容吗？→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4级隐私</a:t>
            </a:r>
            <a:r>
              <a:rPr sz="1300">
                <a:solidFill>
                  <a:srgbClr val="000000"/>
                </a:solidFill>
                <a:latin typeface="微软雅黑"/>
              </a:rPr>
              <a:t>🔴禁止/🟡摘要/🟢开放/🔵临时授权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挑战2：发送者识别 — "老婆"可能叫"宝贝""honey" → 关键词+联系人关系匹配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挑战3：开会时老婆发消息 — 打断还是静默？→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推送矩阵</a:t>
            </a:r>
            <a:r>
              <a:rPr sz="1300">
                <a:solidFill>
                  <a:srgbClr val="000000"/>
                </a:solidFill>
                <a:latin typeface="微软雅黑"/>
              </a:rPr>
              <a:t>🔴+开会=横幅+震动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挑战4：开车时老板发消息 — 不能看手机 → 自动切换为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语音播报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挑战5：消息洪水 — 群聊99+条 →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消息堆积检测</a:t>
            </a:r>
            <a:r>
              <a:rPr sz="1300">
                <a:solidFill>
                  <a:srgbClr val="000000"/>
                </a:solidFill>
                <a:latin typeface="微软雅黑"/>
              </a:rPr>
              <a:t>5分钟内合并为1条摘要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挑战6：误判惩罚 — 普通消息按紧急推送=打扰 → 奖励函数中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打扰惩罚×2(开会)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场景深度：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时序场景 — 跨天跨事件的智能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512000"/>
            <a:ext cx="3240000" cy="126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😴 睡眠建议
连续3天23点后用手机
→ 建议早睡</a:t>
            </a:r>
          </a:p>
        </p:txBody>
      </p:sp>
      <p:sp>
        <p:nvSpPr>
          <p:cNvPr id="4" name="Oval 3"/>
          <p:cNvSpPr/>
          <p:nvPr/>
        </p:nvSpPr>
        <p:spPr>
          <a:xfrm>
            <a:off x="68400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76060" y="1512000"/>
            <a:ext cx="3240000" cy="126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🏃 运动提醒
久坐&gt;2小时
→ 建议活动</a:t>
            </a:r>
          </a:p>
        </p:txBody>
      </p:sp>
      <p:sp>
        <p:nvSpPr>
          <p:cNvPr id="6" name="Oval 5"/>
          <p:cNvSpPr/>
          <p:nvPr/>
        </p:nvSpPr>
        <p:spPr>
          <a:xfrm>
            <a:off x="451206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4120" y="1512000"/>
            <a:ext cx="3240000" cy="126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📧 消息堆积
10分钟内3+条未读
→ 合并提醒</a:t>
            </a:r>
          </a:p>
        </p:txBody>
      </p:sp>
      <p:sp>
        <p:nvSpPr>
          <p:cNvPr id="8" name="Oval 7"/>
          <p:cNvSpPr/>
          <p:nvPr/>
        </p:nvSpPr>
        <p:spPr>
          <a:xfrm>
            <a:off x="834012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3420000"/>
            <a:ext cx="1089612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挑战：不是单点事件，而是事件序列 — 需要跨时间窗口的模式匹配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① 睡眠建议：需要记住最近7天的"最后使用时间"，连续3天&gt;23:00才触发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② 运动提醒：需要持续跟踪运动状态，累计静坐时间&gt;120分钟才触发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③ 消息堆积：需要滑动窗口计数，10分钟内来源去重后&gt;=3条才触发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技术方案：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事件环形缓冲区</a:t>
            </a:r>
            <a:r>
              <a:rPr sz="1300">
                <a:solidFill>
                  <a:srgbClr val="000000"/>
                </a:solidFill>
                <a:latin typeface="微软雅黑"/>
              </a:rPr>
              <a:t>最近7天/最多10000条，O(N)扫描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关键约束：缓冲区必须常驻内存，但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内存预算仅~200KB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Cooldown机制：同类提醒冷却期内不重复推送，避免"每2小时提醒一次运动"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场景共性挑战：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每个场景都面临的6大难题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368000"/>
            <a:ext cx="5220000" cy="79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❓ 不确定性：传感器噪声、GPS漂移、运动状态模糊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56000" y="1368000"/>
            <a:ext cx="5220000" cy="79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🔒 隐私边界：哪些数据AI可以看？用户授权粒度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2304000"/>
            <a:ext cx="5220000" cy="79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⏱ 时机选择：太早无用、太晚来不及、打扰惩罚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6000" y="2304000"/>
            <a:ext cx="5220000" cy="79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👤 个性化：每个用户习惯不同，不能硬编码规则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" y="3240000"/>
            <a:ext cx="5220000" cy="79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🔋 低功耗：不能持续轮询传感器，事件驱动+按需查询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000" y="3240000"/>
            <a:ext cx="5220000" cy="79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📊 冷启动：新用户零数据，规则→学习渐进过渡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320000"/>
            <a:ext cx="1089612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这些挑战不是理论问题，而是每个用户每天都会遇到的真实问题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解决方案需要在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准确性 vs 功耗 vs 隐私 vs 延迟</a:t>
            </a:r>
            <a:r>
              <a:rPr sz="1300">
                <a:solidFill>
                  <a:srgbClr val="000000"/>
                </a:solidFill>
                <a:latin typeface="微软雅黑"/>
              </a:rPr>
              <a:t> 之间取得平衡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不能用云端大模型暴力解决 — 必须本地、低功耗、实时响应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下面我们逐一看技术方案如何应对这些挑战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技术挑战1：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规则引擎 — 从平铺规则到智能决策树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440000"/>
            <a:ext cx="2088000" cy="1008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</a:rPr>
              <a:t>用户平铺规则
IF-THEN 可读</a:t>
            </a:r>
          </a:p>
        </p:txBody>
      </p:sp>
      <p:sp>
        <p:nvSpPr>
          <p:cNvPr id="4" name="Oval 3"/>
          <p:cNvSpPr/>
          <p:nvPr/>
        </p:nvSpPr>
        <p:spPr>
          <a:xfrm>
            <a:off x="684000" y="1332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72000" y="1800000"/>
            <a:ext cx="77604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84040" y="1440000"/>
            <a:ext cx="2088000" cy="100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</a:rPr>
              <a:t>自动编译
成本感知排序</a:t>
            </a:r>
          </a:p>
        </p:txBody>
      </p:sp>
      <p:sp>
        <p:nvSpPr>
          <p:cNvPr id="7" name="Oval 6"/>
          <p:cNvSpPr/>
          <p:nvPr/>
        </p:nvSpPr>
        <p:spPr>
          <a:xfrm>
            <a:off x="3620040" y="1332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08040" y="1800000"/>
            <a:ext cx="77604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20080" y="1440000"/>
            <a:ext cx="2088000" cy="1008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</a:rPr>
              <a:t>决策树执行
软匹配多路径</a:t>
            </a:r>
          </a:p>
        </p:txBody>
      </p:sp>
      <p:sp>
        <p:nvSpPr>
          <p:cNvPr id="10" name="Oval 9"/>
          <p:cNvSpPr/>
          <p:nvPr/>
        </p:nvSpPr>
        <p:spPr>
          <a:xfrm>
            <a:off x="6556080" y="1332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44080" y="1800000"/>
            <a:ext cx="77604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56120" y="1440000"/>
            <a:ext cx="2088000" cy="100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</a:rPr>
              <a:t>LLM兜底
未覆盖场景</a:t>
            </a:r>
          </a:p>
        </p:txBody>
      </p:sp>
      <p:sp>
        <p:nvSpPr>
          <p:cNvPr id="13" name="Oval 12"/>
          <p:cNvSpPr/>
          <p:nvPr/>
        </p:nvSpPr>
        <p:spPr>
          <a:xfrm>
            <a:off x="9492120" y="1332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3024000"/>
            <a:ext cx="1089612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① 用户写规则像配置表：条件(时间+位置+运动) → 意图(通勤提醒) → 动作(推路况)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② 自动编译核心创新：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成本感知排序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 时间判断cost=1(免费) → 放树顶 → 周末直接剪枝，不查GPS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 GPS查询cost=10(耗电) → 放树底 → 只有必要时才查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 效果：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减少60%+不必要的传感器查询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③ 软匹配（vs传统硬匹配）：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 传统：7:00-8:00 → 6:59不匹配（boolean）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 软匹配：7:30±30min高斯衰减 → 6:50=0.85, 6:30=0.45（概率）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 缺失数据=0.5（不知道≠不匹配），多路径同时匹配取最高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④ 决策树未覆盖 → 自动fallback到LLM（云端），保证不遗漏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技术挑战2：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LinUCB在线学习 — 越用越懂你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440000"/>
            <a:ext cx="2700000" cy="115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📊 状态向量
原始特征+场景语义
+历史统计 ≈40维</a:t>
            </a:r>
          </a:p>
        </p:txBody>
      </p:sp>
      <p:sp>
        <p:nvSpPr>
          <p:cNvPr id="4" name="Oval 3"/>
          <p:cNvSpPr/>
          <p:nvPr/>
        </p:nvSpPr>
        <p:spPr>
          <a:xfrm>
            <a:off x="684000" y="1332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20000" y="1872000"/>
            <a:ext cx="125406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46060" y="1440000"/>
            <a:ext cx="2700000" cy="115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🎯 LinUCB决策
score = θᵀx + α√(xᵀA⁻¹x)
探索与利用平衡</a:t>
            </a:r>
          </a:p>
        </p:txBody>
      </p:sp>
      <p:sp>
        <p:nvSpPr>
          <p:cNvPr id="7" name="Oval 6"/>
          <p:cNvSpPr/>
          <p:nvPr/>
        </p:nvSpPr>
        <p:spPr>
          <a:xfrm>
            <a:off x="4782060" y="1332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518060" y="1872000"/>
            <a:ext cx="125406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44120" y="1440000"/>
            <a:ext cx="2700000" cy="115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📝 在线更新
A = γA + xxᵀ
b = γb + rx</a:t>
            </a:r>
          </a:p>
        </p:txBody>
      </p:sp>
      <p:sp>
        <p:nvSpPr>
          <p:cNvPr id="10" name="Oval 9"/>
          <p:cNvSpPr/>
          <p:nvPr/>
        </p:nvSpPr>
        <p:spPr>
          <a:xfrm>
            <a:off x="8880120" y="1332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240000"/>
            <a:ext cx="1089612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为什么选LinUCB而不是DQN/PPO？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→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无需GPU</a:t>
            </a:r>
            <a:r>
              <a:rPr sz="1300">
                <a:solidFill>
                  <a:srgbClr val="000000"/>
                </a:solidFill>
                <a:latin typeface="微软雅黑"/>
              </a:rPr>
              <a:t>：纯矩阵运算，40×40矩阵，更新&lt;0.01ms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→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无需离线训练</a:t>
            </a:r>
            <a:r>
              <a:rPr sz="1300">
                <a:solidFill>
                  <a:srgbClr val="000000"/>
                </a:solidFill>
                <a:latin typeface="微软雅黑"/>
              </a:rPr>
              <a:t>：每次反馈实时更新，不需要经验回放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→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内存极小</a:t>
            </a:r>
            <a:r>
              <a:rPr sz="1300">
                <a:solidFill>
                  <a:srgbClr val="000000"/>
                </a:solidFill>
                <a:latin typeface="微软雅黑"/>
              </a:rPr>
              <a:t>：A(40×40)×10动作×4字节 ≈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70KB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→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理论保证</a:t>
            </a:r>
            <a:r>
              <a:rPr sz="1300">
                <a:solidFill>
                  <a:srgbClr val="000000"/>
                </a:solidFill>
                <a:latin typeface="微软雅黑"/>
              </a:rPr>
              <a:t>：UCB置信上界，探索-利用有数学证明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关键设计：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时间衰减 γ=0.998 → 半衰期≈2周，旧习惯自动淡出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语义融合：决策树叶节点→语义向量→加权融合→一个全局模型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探索策略：🔴紧急不探索 | 低风险+用户空闲 ε=0.2 | 其他 ε=0.05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奖励函数：reward = base + disturbance_penalty(-0.1×推送次数^1.5) + accuracy_bonus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在线学习鲁棒性：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5层防护，确保不退化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16060" y="1440000"/>
            <a:ext cx="9360000" cy="648000"/>
          </a:xfrm>
          <a:prstGeom prst="round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第1层 输入防护：特征范围检查 + 缺失值填充(0.5) + 异常特征过滤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6060" y="2160000"/>
            <a:ext cx="9360000" cy="648000"/>
          </a:xfrm>
          <a:prstGeom prst="roundRect">
            <a:avLst/>
          </a:prstGeom>
          <a:solidFill>
            <a:srgbClr val="DC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第2层 反馈防护：3σ异常检测 + 频率限制(1分钟&gt;5条=过滤) + 奖励裁剪[-2,2]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6060" y="2880000"/>
            <a:ext cx="9360000" cy="64800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第3层 模型防护：时间衰减γ=0.998 + 单次变化限制5% + 矩阵条件数监控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6060" y="3600000"/>
            <a:ext cx="9360000" cy="648000"/>
          </a:xfrm>
          <a:prstGeom prst="round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第4层 输出防护：置信度&lt;阈值→回退规则 + 不确定时降级推送形式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6060" y="4320000"/>
            <a:ext cx="9360000" cy="648000"/>
          </a:xfrm>
          <a:prstGeom prst="roundRect">
            <a:avLst/>
          </a:prstGeom>
          <a:solidFill>
            <a:srgbClr val="E1D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第5层 系统防护：每日检查点快照 + 性能下降30%→自动回滚 + 监控仪表板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5220000"/>
            <a:ext cx="1089612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冷启动：前2周100%规则 → 第4周70%RL → 稳定后RL主导+规则兜底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关键保证：即使RL完全失败，系统仍能靠规则正常运行 →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永远不比纯规则差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技术挑战3：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低功耗 — 手机不是服务器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512000"/>
            <a:ext cx="3240000" cy="126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⚡ 事件驱动
不轮询，被动监听
系统通知触发</a:t>
            </a:r>
          </a:p>
        </p:txBody>
      </p:sp>
      <p:sp>
        <p:nvSpPr>
          <p:cNvPr id="4" name="Oval 3"/>
          <p:cNvSpPr/>
          <p:nvPr/>
        </p:nvSpPr>
        <p:spPr>
          <a:xfrm>
            <a:off x="68400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76060" y="1512000"/>
            <a:ext cx="3240000" cy="126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🌳 成本感知决策树
便宜判断先做
贵的按需查询</a:t>
            </a:r>
          </a:p>
        </p:txBody>
      </p:sp>
      <p:sp>
        <p:nvSpPr>
          <p:cNvPr id="6" name="Oval 5"/>
          <p:cNvSpPr/>
          <p:nvPr/>
        </p:nvSpPr>
        <p:spPr>
          <a:xfrm>
            <a:off x="451206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4120" y="1512000"/>
            <a:ext cx="3240000" cy="126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💾 极小内存
LinUCB ≈ 70KB
事件缓冲 ≈ 200KB
总计 &lt; 5MB</a:t>
            </a:r>
          </a:p>
        </p:txBody>
      </p:sp>
      <p:sp>
        <p:nvSpPr>
          <p:cNvPr id="8" name="Oval 7"/>
          <p:cNvSpPr/>
          <p:nvPr/>
        </p:nvSpPr>
        <p:spPr>
          <a:xfrm>
            <a:off x="834012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3420000"/>
            <a:ext cx="1089612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① 事件驱动 vs 轮询：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 传统方案：每30秒查GPS+传感器 →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每天耗电15-20%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 我们的方案：系统通知/传感器变化事件触发 → 按需查询 →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耗电&lt;1%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② 成本感知排序的功耗价值：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 判断"今天是周末"cost=1 → 如果是周末，直接跳过，不查GPS(cost=10)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减少60%+不必要的传感器唤醒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③ 全C++引擎实现：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 决策延迟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&lt;0.01ms</a:t>
            </a:r>
            <a:r>
              <a:rPr sz="1300">
                <a:solidFill>
                  <a:srgbClr val="000000"/>
                </a:solidFill>
                <a:latin typeface="微软雅黑"/>
              </a:rPr>
              <a:t>（纯矩阵运算，无GC暂停）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 LinUCB更新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&lt;0.01ms</a:t>
            </a:r>
            <a:r>
              <a:rPr sz="1300">
                <a:solidFill>
                  <a:srgbClr val="000000"/>
                </a:solidFill>
                <a:latin typeface="微软雅黑"/>
              </a:rPr>
              <a:t>，不需要GPU/NPU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 vs 调用一次LLM：500-2000ms + 网络流量 + 云端成本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④ 本地优先策略：日常决策100%本地 → LLM仅在决策树未覆盖时兜底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C++引擎：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9大模块，全部端侧运行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440000"/>
            <a:ext cx="3240000" cy="864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RuleCompiler
规则→决策树编译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76060" y="1440000"/>
            <a:ext cx="3240000" cy="86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DecisionTree
软匹配多路径执行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04120" y="1440000"/>
            <a:ext cx="3240000" cy="864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SoftMatcher
高斯衰减+多源融合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2448000"/>
            <a:ext cx="3240000" cy="86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RobustLinUCB
在线学习+时间衰减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6060" y="2448000"/>
            <a:ext cx="3240000" cy="864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EventRingBuffer
7天事件环形缓冲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04120" y="2448000"/>
            <a:ext cx="3240000" cy="86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CooldownManager
冷却去重+合并推送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000" y="3456000"/>
            <a:ext cx="3240000" cy="864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DecisionTracer
决策追溯日志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6060" y="3456000"/>
            <a:ext cx="3240000" cy="86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FeedbackValidator
异常反馈5层过滤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4120" y="3456000"/>
            <a:ext cx="3240000" cy="864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ModelCheckpoint
每日快照+自动回滚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4500000"/>
            <a:ext cx="1089612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为什么C++而不是ArkTS？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→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性能</a:t>
            </a:r>
            <a:r>
              <a:rPr sz="1300">
                <a:solidFill>
                  <a:srgbClr val="000000"/>
                </a:solidFill>
                <a:latin typeface="微软雅黑"/>
              </a:rPr>
              <a:t>：无GC暂停，矩阵运算直接操作内存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→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内存控制</a:t>
            </a:r>
            <a:r>
              <a:rPr sz="1300">
                <a:solidFill>
                  <a:srgbClr val="000000"/>
                </a:solidFill>
                <a:latin typeface="微软雅黑"/>
              </a:rPr>
              <a:t>：精确管理，无JS引擎开销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→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跨平台</a:t>
            </a:r>
            <a:r>
              <a:rPr sz="1300">
                <a:solidFill>
                  <a:srgbClr val="000000"/>
                </a:solidFill>
                <a:latin typeface="微软雅黑"/>
              </a:rPr>
              <a:t>：未来可移植到Android/iOS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NAPI桥接层：JSON序列化，ArkTS通过libruleengine.so调用C++引擎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隐私边界：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用户控制AI能看到什么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512000"/>
            <a:ext cx="2448000" cy="1440000"/>
          </a:xfrm>
          <a:prstGeom prst="round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🔴 禁止
AI仅知道
"有新消息"
不可见内容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64040" y="1512000"/>
            <a:ext cx="2448000" cy="144000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🟡 摘要
AI看摘要+元数据
不看原文
如: 3条未读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0080" y="1512000"/>
            <a:ext cx="2448000" cy="1440000"/>
          </a:xfrm>
          <a:prstGeom prst="round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🟢 开放
AI完全可见
可以分析内容
如: 快递状态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96120" y="1512000"/>
            <a:ext cx="2448000" cy="1440000"/>
          </a:xfrm>
          <a:prstGeom prst="roundRect">
            <a:avLst/>
          </a:prstGeom>
          <a:solidFill>
            <a:srgbClr val="DC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🔵 授权
临时完整访问
用完自动撤销
如: 读邮件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3600000"/>
            <a:ext cx="1089612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默认最小权限：新数据源默认🔴禁止，用户主动升级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摘要级别只给统计，不给原文 — AI知道"老婆发了3条消息"但不知道内容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临时授权自动撤销 — 读完这封邮件后权限立即收回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审计日志可查 — 用户随时可以查看AI访问了什么数据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数字世界按马斯洛分层：生理(外卖🟢)/安全(银行🔴)/社交(私聊🟡)/尊重(薪资🔴)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推送策略：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紧急度×用户状态 = 20种最优形式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68000" y="1080000"/>
            <a:ext cx="1872000" cy="3600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空闲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4000" y="1080000"/>
            <a:ext cx="1872000" cy="3600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忙碌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0" y="1080000"/>
            <a:ext cx="1872000" cy="3600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开会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16000" y="1080000"/>
            <a:ext cx="1872000" cy="3600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睡觉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32000" y="1080000"/>
            <a:ext cx="1872000" cy="3600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开车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512000"/>
            <a:ext cx="7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  <a:latin typeface="微软雅黑"/>
              </a:defRPr>
            </a:pPr>
            <a:r>
              <a:t>🔴 立即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1512000"/>
            <a:ext cx="1872000" cy="648000"/>
          </a:xfrm>
          <a:prstGeom prst="round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全屏+声音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4000" y="1512000"/>
            <a:ext cx="1872000" cy="64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横幅+震动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0" y="1512000"/>
            <a:ext cx="1872000" cy="648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横幅+震动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16000" y="1512000"/>
            <a:ext cx="1872000" cy="648000"/>
          </a:xfrm>
          <a:prstGeom prst="round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全屏+声音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2000" y="1512000"/>
            <a:ext cx="1872000" cy="648000"/>
          </a:xfrm>
          <a:prstGeom prst="round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语音播报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268000"/>
            <a:ext cx="7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  <a:latin typeface="微软雅黑"/>
              </a:defRPr>
            </a:pPr>
            <a:r>
              <a:t>🟡 尽快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68000" y="2268000"/>
            <a:ext cx="1872000" cy="64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横幅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4000" y="2268000"/>
            <a:ext cx="1872000" cy="648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小红点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0" y="2268000"/>
            <a:ext cx="1872000" cy="64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静默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6000" y="2268000"/>
            <a:ext cx="1872000" cy="648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静默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2000" y="2268000"/>
            <a:ext cx="1872000" cy="64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语音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" y="3024000"/>
            <a:ext cx="7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  <a:latin typeface="微软雅黑"/>
              </a:defRPr>
            </a:pPr>
            <a:r>
              <a:t>🟢 稍后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8000" y="3024000"/>
            <a:ext cx="1872000" cy="648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小红点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4000" y="3024000"/>
            <a:ext cx="1872000" cy="64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静默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0000" y="3024000"/>
            <a:ext cx="1872000" cy="648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静默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16000" y="3024000"/>
            <a:ext cx="1872000" cy="64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静默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32000" y="3024000"/>
            <a:ext cx="1872000" cy="648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静默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3780000"/>
            <a:ext cx="7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  <a:latin typeface="微软雅黑"/>
              </a:defRPr>
            </a:pPr>
            <a:r>
              <a:t>⚪ 背景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68000" y="3780000"/>
            <a:ext cx="1872000" cy="64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静默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4000" y="3780000"/>
            <a:ext cx="1872000" cy="648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静默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00000" y="3780000"/>
            <a:ext cx="1872000" cy="64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静默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16000" y="3780000"/>
            <a:ext cx="1872000" cy="648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静默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32000" y="3780000"/>
            <a:ext cx="1872000" cy="64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静默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000" y="4680000"/>
            <a:ext cx="1089612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低置信度(&lt;0.6)自动降一级：全屏→横幅→小红点→静默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开车模式：所有通知自动转为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语音播报</a:t>
            </a:r>
            <a:r>
              <a:rPr sz="1300">
                <a:solidFill>
                  <a:srgbClr val="000000"/>
                </a:solidFill>
                <a:latin typeface="微软雅黑"/>
              </a:rPr>
              <a:t>，不需要看屏幕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合并推送：5分钟内多条🟢/⚪合并为一条摘要，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减少打扰60%+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实施路线图：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4个阶段，从规则到智能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440000"/>
            <a:ext cx="2448000" cy="1800000"/>
          </a:xfrm>
          <a:prstGeom prst="round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MVP · 4周
─────────
✅ 硬匹配决策树
✅ 4个核心场景
✅ 模板通知
✅ 统计学习
✅ 基础UI</a:t>
            </a:r>
          </a:p>
        </p:txBody>
      </p:sp>
      <p:sp>
        <p:nvSpPr>
          <p:cNvPr id="4" name="Oval 3"/>
          <p:cNvSpPr/>
          <p:nvPr/>
        </p:nvSpPr>
        <p:spPr>
          <a:xfrm>
            <a:off x="684000" y="1332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68000" y="2160000"/>
            <a:ext cx="224040" cy="36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64040" y="1440000"/>
            <a:ext cx="2448000" cy="1800000"/>
          </a:xfrm>
          <a:prstGeom prst="roundRect">
            <a:avLst/>
          </a:prstGeom>
          <a:solidFill>
            <a:srgbClr val="DC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Phase 2 · 4周
─────────
◻ 软匹配+概率分布
◻ LinUCB上线
◻ 通知拦截
◻ 8个场景
◻ 多源融合</a:t>
            </a:r>
          </a:p>
        </p:txBody>
      </p:sp>
      <p:sp>
        <p:nvSpPr>
          <p:cNvPr id="7" name="Oval 6"/>
          <p:cNvSpPr/>
          <p:nvPr/>
        </p:nvSpPr>
        <p:spPr>
          <a:xfrm>
            <a:off x="3500040" y="1332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84040" y="2160000"/>
            <a:ext cx="224040" cy="36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80080" y="1440000"/>
            <a:ext cx="2448000" cy="180000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Phase 3 · 4周
─────────
◻ 时序规则引擎
◻ 语音播报
◻ 5层鲁棒性
◻ 12个场景
◻ 完整隐私</a:t>
            </a:r>
          </a:p>
        </p:txBody>
      </p:sp>
      <p:sp>
        <p:nvSpPr>
          <p:cNvPr id="10" name="Oval 9"/>
          <p:cNvSpPr/>
          <p:nvPr/>
        </p:nvSpPr>
        <p:spPr>
          <a:xfrm>
            <a:off x="6316080" y="1332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00080" y="2160000"/>
            <a:ext cx="224040" cy="36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96120" y="1440000"/>
            <a:ext cx="2448000" cy="1800000"/>
          </a:xfrm>
          <a:prstGeom prst="round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微软雅黑"/>
              </a:rPr>
              <a:t>Phase 4 · 持续
─────────
◻ LLM兜底
◻ 更多插件
◻ 联邦学习
◻ MindSpore
◻ 生态集成</a:t>
            </a:r>
          </a:p>
        </p:txBody>
      </p:sp>
      <p:sp>
        <p:nvSpPr>
          <p:cNvPr id="13" name="Oval 12"/>
          <p:cNvSpPr/>
          <p:nvPr/>
        </p:nvSpPr>
        <p:spPr>
          <a:xfrm>
            <a:off x="9132120" y="1332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3888000"/>
            <a:ext cx="1089612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MVP 关键指标：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4个场景准确率&gt;80%</a:t>
            </a:r>
            <a:r>
              <a:rPr sz="1300">
                <a:solidFill>
                  <a:srgbClr val="000000"/>
                </a:solidFill>
                <a:latin typeface="微软雅黑"/>
              </a:rPr>
              <a:t> +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日耗电&lt;1%</a:t>
            </a:r>
            <a:r>
              <a:rPr sz="1300">
                <a:solidFill>
                  <a:srgbClr val="000000"/>
                </a:solidFill>
                <a:latin typeface="微软雅黑"/>
              </a:rPr>
              <a:t> +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决策延迟&lt;1ms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端侧训练路线：统计学习(MVP) → C++手写LinUCB(P2) → MindSpore Lite(P3)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每个阶段都可独立交付价值 — 纯规则已经比没有强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90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情景智能 = 场景驱动 × 端侧智能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2160000"/>
            <a:ext cx="3240000" cy="1620000"/>
          </a:xfrm>
          <a:prstGeom prst="round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🎯 12个真实场景
从通勤提醒到自动静音
覆盖日常生活方方面面
每个场景都是多维挑战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76060" y="2160000"/>
            <a:ext cx="3240000" cy="1620000"/>
          </a:xfrm>
          <a:prstGeom prst="roundRect">
            <a:avLst/>
          </a:prstGeom>
          <a:solidFill>
            <a:srgbClr val="DC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🧠 3层智能引擎
规则决策树（快+省电）
LinUCB在线学习（准）
LLM兜底（全覆盖）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04120" y="2160000"/>
            <a:ext cx="3240000" cy="162000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⚡ 极致端侧性能
决策&lt;0.01ms
内存&lt;5MB
日耗电&lt;1%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450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在对的时间，做对的事，用最少的资源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