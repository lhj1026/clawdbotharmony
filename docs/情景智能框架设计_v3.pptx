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008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情景智能框架设计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9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ClawdBot · AI 秘书 · 感知→理解→行动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28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/>
              </a:defRPr>
            </a:pPr>
            <a:r>
              <a:t>v3.0 | 2026-02-19 | 洪杰 &amp; Cecilia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系统边界：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AI秘书感知世界、理解意图、主动服务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2700000" cy="144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感知
物理+数字世界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0000" y="2052000"/>
            <a:ext cx="125406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46060" y="1512000"/>
            <a:ext cx="2700000" cy="14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理解
用户需求和意图</a:t>
            </a:r>
          </a:p>
        </p:txBody>
      </p:sp>
      <p:sp>
        <p:nvSpPr>
          <p:cNvPr id="7" name="Oval 6"/>
          <p:cNvSpPr/>
          <p:nvPr/>
        </p:nvSpPr>
        <p:spPr>
          <a:xfrm>
            <a:off x="4782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18060" y="2052000"/>
            <a:ext cx="125406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44120" y="1512000"/>
            <a:ext cx="2700000" cy="144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行动
合适时机提供帮助</a:t>
            </a:r>
          </a:p>
        </p:txBody>
      </p:sp>
      <p:sp>
        <p:nvSpPr>
          <p:cNvPr id="10" name="Oval 9"/>
          <p:cNvSpPr/>
          <p:nvPr/>
        </p:nvSpPr>
        <p:spPr>
          <a:xfrm>
            <a:off x="888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528000"/>
            <a:ext cx="10896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感知：收集传感器数据（GPS/运动/环境）+ 系统通知（IM/外卖/快递）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理解：规则决策树 + LinUCB强化学习 + LLM兜底，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&lt;0.01ms决策延迟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行动：通知/语音/卡片/静默动作，紧急度×用户状态自动选择形式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核心原则：独立人格 | 隐私优先 | 本地优先 | 渐进智能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四大问题域：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感知→决策→执行→学习闭环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2232000" cy="144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感知域
Perception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52000" y="2052000"/>
            <a:ext cx="512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36040" y="1512000"/>
            <a:ext cx="2232000" cy="1440000"/>
          </a:xfrm>
          <a:prstGeom prst="round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决策域
Decision</a:t>
            </a:r>
          </a:p>
        </p:txBody>
      </p:sp>
      <p:sp>
        <p:nvSpPr>
          <p:cNvPr id="7" name="Oval 6"/>
          <p:cNvSpPr/>
          <p:nvPr/>
        </p:nvSpPr>
        <p:spPr>
          <a:xfrm>
            <a:off x="357204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40040" y="2052000"/>
            <a:ext cx="512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24080" y="1512000"/>
            <a:ext cx="2232000" cy="1440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执行域
Execution</a:t>
            </a:r>
          </a:p>
        </p:txBody>
      </p:sp>
      <p:sp>
        <p:nvSpPr>
          <p:cNvPr id="10" name="Oval 9"/>
          <p:cNvSpPr/>
          <p:nvPr/>
        </p:nvSpPr>
        <p:spPr>
          <a:xfrm>
            <a:off x="646008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8080" y="2052000"/>
            <a:ext cx="512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12120" y="1512000"/>
            <a:ext cx="2232000" cy="1440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/>
              </a:rPr>
              <a:t>学习域
Learning</a:t>
            </a:r>
          </a:p>
        </p:txBody>
      </p:sp>
      <p:sp>
        <p:nvSpPr>
          <p:cNvPr id="13" name="Oval 12"/>
          <p:cNvSpPr/>
          <p:nvPr/>
        </p:nvSpPr>
        <p:spPr>
          <a:xfrm>
            <a:off x="9348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528000"/>
            <a:ext cx="10896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感知域：插件注册三要素（类别/分类器/编码器），输出概率分布+特征向量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决策域：规则→决策树自动编译→软匹配→LinUCB语义融合→LLM兜底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执行域：隐私过滤→内容生成→形式选择→时机调度→多模态输出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④ 学习域：复合奖励函数 +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5层鲁棒性防护</a:t>
            </a:r>
            <a:r>
              <a:rPr sz="1300">
                <a:solidFill>
                  <a:srgbClr val="000000"/>
                </a:solidFill>
                <a:latin typeface="微软雅黑"/>
              </a:rPr>
              <a:t> + 时间衰减遗忘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六层架构：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ArkTS UI → C++引擎 → 外部服务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16060" y="1368000"/>
            <a:ext cx="9360000" cy="648000"/>
          </a:xfrm>
          <a:prstGeom prst="round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Layer 6: ArkTS UI 层 — 规则配置 / 决策追溯 / 通知卡片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6060" y="2088000"/>
            <a:ext cx="9360000" cy="6480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Layer 5: ArkTS 业务层 — 动作执行 / 内容生成 / 插件管理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6060" y="2808000"/>
            <a:ext cx="9360000" cy="648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Layer 4: C++ NAPI 桥接层 — JSON序列化 / 异步调用封装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6060" y="3528000"/>
            <a:ext cx="9360000" cy="648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Layer 3: C++ 引擎层 — 决策树 / LinUCB / 事件缓冲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6060" y="4248000"/>
            <a:ext cx="9360000" cy="648000"/>
          </a:xfrm>
          <a:prstGeom prst="roundRect">
            <a:avLst/>
          </a:prstGeom>
          <a:solidFill>
            <a:srgbClr val="E1D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Layer 2: HarmonyOS 系统层 — 传感器 / 通知拦截 / GPS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6060" y="4968000"/>
            <a:ext cx="9360000" cy="64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333333"/>
                </a:solidFill>
                <a:latin typeface="微软雅黑"/>
              </a:rPr>
              <a:t>Layer 1: 外部服务层 — OpenClaw Gateway / 天气 / 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832000"/>
            <a:ext cx="10896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核心决策逻辑全部在 C++ 实现（Layer 3-4），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性能&lt;0.01ms</a:t>
            </a:r>
            <a:r>
              <a:rPr sz="1300">
                <a:solidFill>
                  <a:srgbClr val="000000"/>
                </a:solidFill>
                <a:latin typeface="微软雅黑"/>
              </a:rPr>
              <a:t>，跨平台可移植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上层可调下层 ✅ | 下层通过事件通知上层 | 禁止跨层调用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感知域：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概率分布编码，不确定性量化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306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类别注册
物理/数字世界
域/子域/隐私级别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80000" y="1962000"/>
            <a:ext cx="71406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66060" y="1512000"/>
            <a:ext cx="3060000" cy="12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分类器
小模型 or 规则
→ 标签+置信度</a:t>
            </a:r>
          </a:p>
        </p:txBody>
      </p:sp>
      <p:sp>
        <p:nvSpPr>
          <p:cNvPr id="7" name="Oval 6"/>
          <p:cNvSpPr/>
          <p:nvPr/>
        </p:nvSpPr>
        <p:spPr>
          <a:xfrm>
            <a:off x="4602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98060" y="1962000"/>
            <a:ext cx="71406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84120" y="1512000"/>
            <a:ext cx="3060000" cy="126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编码器
概率分布(multi-label)
特征向量+质量评分</a:t>
            </a:r>
          </a:p>
        </p:txBody>
      </p:sp>
      <p:sp>
        <p:nvSpPr>
          <p:cNvPr id="10" name="Oval 9"/>
          <p:cNvSpPr/>
          <p:nvPr/>
        </p:nvSpPr>
        <p:spPr>
          <a:xfrm>
            <a:off x="852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420000"/>
            <a:ext cx="1089612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类别注册：每个数据源声明域/子域/默认隐私级别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分类器：轻量模型或规则函数，输出分类标签+置信度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编码器：输出概率分布（不要求归一化），如 {home:0.8, market:0.7, office:0.02}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位置编码：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GPS+WiFi+蓝牙多源融合</a:t>
            </a:r>
            <a:r>
              <a:rPr sz="1300">
                <a:solidFill>
                  <a:srgbClr val="000000"/>
                </a:solidFill>
                <a:latin typeface="微软雅黑"/>
              </a:rPr>
              <a:t>，取最高置信度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运动编码：{still:0.6, walking:0.3, driving:0.1}，等红灯时静止和开车都有概率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缺失数据 = 0.5（不知道 ≠ 不匹配）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决策域：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决策树软匹配 + LinUCB强化学习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1872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用户规则
(平铺)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56000" y="1908000"/>
            <a:ext cx="31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04030" y="1512000"/>
            <a:ext cx="1872000" cy="10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自动编译
决策树</a:t>
            </a:r>
          </a:p>
        </p:txBody>
      </p:sp>
      <p:sp>
        <p:nvSpPr>
          <p:cNvPr id="7" name="Oval 6"/>
          <p:cNvSpPr/>
          <p:nvPr/>
        </p:nvSpPr>
        <p:spPr>
          <a:xfrm>
            <a:off x="294003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12030" y="1908000"/>
            <a:ext cx="31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60060" y="1512000"/>
            <a:ext cx="1872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软匹配
多叶节点</a:t>
            </a:r>
          </a:p>
        </p:txBody>
      </p:sp>
      <p:sp>
        <p:nvSpPr>
          <p:cNvPr id="10" name="Oval 9"/>
          <p:cNvSpPr/>
          <p:nvPr/>
        </p:nvSpPr>
        <p:spPr>
          <a:xfrm>
            <a:off x="5196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68060" y="1908000"/>
            <a:ext cx="31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16090" y="1512000"/>
            <a:ext cx="1872000" cy="1080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LinUCB
语义融合</a:t>
            </a:r>
          </a:p>
        </p:txBody>
      </p:sp>
      <p:sp>
        <p:nvSpPr>
          <p:cNvPr id="13" name="Oval 12"/>
          <p:cNvSpPr/>
          <p:nvPr/>
        </p:nvSpPr>
        <p:spPr>
          <a:xfrm>
            <a:off x="745209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24090" y="1908000"/>
            <a:ext cx="31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72120" y="1512000"/>
            <a:ext cx="1872000" cy="10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输出
Decision</a:t>
            </a:r>
          </a:p>
        </p:txBody>
      </p:sp>
      <p:sp>
        <p:nvSpPr>
          <p:cNvPr id="16" name="Oval 15"/>
          <p:cNvSpPr/>
          <p:nvPr/>
        </p:nvSpPr>
        <p:spPr>
          <a:xfrm>
            <a:off x="9708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3240000"/>
            <a:ext cx="1089612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用户平铺写规则（AND/OR条件+时序），系统自动编译为决策树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成本感知排序：便宜判断(时间cost=1)放上层，贵的(GPS cost=10)放下层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软匹配：每个条件返回0~1置信度，沿路径相乘，可走多条路径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④ LinUCB：全局模型，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状态向量~40维</a:t>
            </a:r>
            <a:r>
              <a:rPr sz="1300">
                <a:solidFill>
                  <a:srgbClr val="000000"/>
                </a:solidFill>
                <a:latin typeface="微软雅黑"/>
              </a:rPr>
              <a:t>，score = θᵀx + α√(xᵀA⁻¹x)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⑤ 时间衰减 γ=0.998，半衰期≈2周，旧习惯自动淡出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兜底：决策树未覆盖 → LLM 生成决策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执行域：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紧急度×用户状态 → 20种推送形式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1800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隐私过滤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84000" y="1836000"/>
            <a:ext cx="40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2030" y="1512000"/>
            <a:ext cx="1800000" cy="100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内容生成</a:t>
            </a:r>
          </a:p>
        </p:txBody>
      </p:sp>
      <p:sp>
        <p:nvSpPr>
          <p:cNvPr id="7" name="Oval 6"/>
          <p:cNvSpPr/>
          <p:nvPr/>
        </p:nvSpPr>
        <p:spPr>
          <a:xfrm>
            <a:off x="295803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8030" y="1836000"/>
            <a:ext cx="40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96060" y="1512000"/>
            <a:ext cx="1800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形式选择</a:t>
            </a:r>
          </a:p>
        </p:txBody>
      </p:sp>
      <p:sp>
        <p:nvSpPr>
          <p:cNvPr id="10" name="Oval 9"/>
          <p:cNvSpPr/>
          <p:nvPr/>
        </p:nvSpPr>
        <p:spPr>
          <a:xfrm>
            <a:off x="5232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32060" y="1836000"/>
            <a:ext cx="40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70090" y="1512000"/>
            <a:ext cx="1800000" cy="100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时机调度</a:t>
            </a:r>
          </a:p>
        </p:txBody>
      </p:sp>
      <p:sp>
        <p:nvSpPr>
          <p:cNvPr id="13" name="Oval 12"/>
          <p:cNvSpPr/>
          <p:nvPr/>
        </p:nvSpPr>
        <p:spPr>
          <a:xfrm>
            <a:off x="750609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06090" y="1836000"/>
            <a:ext cx="402030" cy="28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44120" y="1512000"/>
            <a:ext cx="1800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多模态输出</a:t>
            </a:r>
          </a:p>
        </p:txBody>
      </p:sp>
      <p:sp>
        <p:nvSpPr>
          <p:cNvPr id="16" name="Oval 15"/>
          <p:cNvSpPr/>
          <p:nvPr/>
        </p:nvSpPr>
        <p:spPr>
          <a:xfrm>
            <a:off x="978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3168000"/>
            <a:ext cx="1089612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隐私过滤：🔴阻断 / 🟡脱敏 / 🟢通过 / 🔵临时授权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内容生成：模板填充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&lt;10ms</a:t>
            </a:r>
            <a:r>
              <a:rPr sz="1300">
                <a:solidFill>
                  <a:srgbClr val="000000"/>
                </a:solidFill>
                <a:latin typeface="微软雅黑"/>
              </a:rPr>
              <a:t>/ API拼装(100-500ms) / LLM生成(500-2000ms)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推送形式矩阵：4个紧急度 × 5个用户状态 =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20种组合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  🔴立即+空闲→全屏+声音 | 🔴立即+开车→语音播报 | 🟢稍后+忙碌→静默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④ 低置信度(&lt;0.6)自动降一级：全屏→横幅→小红点→静默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⑤ 合并推送：5分钟内多条🟢/⚪推送合并为一条摘要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学习域：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5层鲁棒性防护，持续进化不退化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76060" y="1512000"/>
            <a:ext cx="8640000" cy="576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① 输入层：特征异常 → 范围检查+缺失值填充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76060" y="2160000"/>
            <a:ext cx="8640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② 反馈层：异常反馈 → 3σ检测+频率限制+裁剪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6060" y="2808000"/>
            <a:ext cx="8640000" cy="576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③ 模型层：参数保护 → 时间衰减γ+变化限制5%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6060" y="3456000"/>
            <a:ext cx="8640000" cy="57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④ 输出层：不确定时 → 置信度检查+回退规则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76060" y="4104000"/>
            <a:ext cx="8640000" cy="576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⑤ 系统层：整体退化 → 每日检查点+自动回滚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5040000"/>
            <a:ext cx="1089612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奖励函数：reward = base + disturbance_penalty + accuracy_bonus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打扰惩罚：-0.1 × (最近推送次数^1.5)，睡觉×3、开会×2、开车×2.5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冷启动：前2周纯规则 → 第4周RL主导 → 稳定后RL+规则兜底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物理世界数据源：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人+手机+环境三维感知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3240000" cy="136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👤 人
生命体征 / 运动状态
精神状态 / 生物特征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6060" y="1512000"/>
            <a:ext cx="3240000" cy="13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📱 手机
姿态 / 位置 / 电源
连接 / 时间</a:t>
            </a:r>
          </a:p>
        </p:txBody>
      </p:sp>
      <p:sp>
        <p:nvSpPr>
          <p:cNvPr id="6" name="Oval 5"/>
          <p:cNvSpPr/>
          <p:nvPr/>
        </p:nvSpPr>
        <p:spPr>
          <a:xfrm>
            <a:off x="4512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04120" y="1512000"/>
            <a:ext cx="3240000" cy="136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🌳 环境(五感)
👁光照 👂噪音 👃空气
🖐温湿度 🌡气压</a:t>
            </a:r>
          </a:p>
        </p:txBody>
      </p:sp>
      <p:sp>
        <p:nvSpPr>
          <p:cNvPr id="8" name="Oval 7"/>
          <p:cNvSpPr/>
          <p:nvPr/>
        </p:nvSpPr>
        <p:spPr>
          <a:xfrm>
            <a:off x="8340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3528000"/>
            <a:ext cx="10896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人：心率/HRV/血压(手表) + 运动识别(加速度计) + 睡眠/压力(推断)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手机：GPS坐标+地点类型(家/公司) + 电量/充电 + WiFi/蓝牙连接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环境：光照传感器 + 麦克风噪音分析 + 温湿度/气压 + 空气质量API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数据编码为概率分布，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支持多源融合和不确定性传播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数字世界数据源：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按马斯洛需求5层分类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1872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1️⃣ 生理
外卖/健康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4030" y="1512000"/>
            <a:ext cx="1872000" cy="100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2️⃣ 安全
快递/账单</a:t>
            </a:r>
          </a:p>
        </p:txBody>
      </p:sp>
      <p:sp>
        <p:nvSpPr>
          <p:cNvPr id="6" name="Oval 5"/>
          <p:cNvSpPr/>
          <p:nvPr/>
        </p:nvSpPr>
        <p:spPr>
          <a:xfrm>
            <a:off x="294003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0060" y="1512000"/>
            <a:ext cx="1872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3️⃣ 社交
群聊/私聊</a:t>
            </a:r>
          </a:p>
        </p:txBody>
      </p:sp>
      <p:sp>
        <p:nvSpPr>
          <p:cNvPr id="8" name="Oval 7"/>
          <p:cNvSpPr/>
          <p:nvPr/>
        </p:nvSpPr>
        <p:spPr>
          <a:xfrm>
            <a:off x="519606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16090" y="1512000"/>
            <a:ext cx="1872000" cy="1008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4️⃣ 尊重
任务/日程</a:t>
            </a:r>
          </a:p>
        </p:txBody>
      </p:sp>
      <p:sp>
        <p:nvSpPr>
          <p:cNvPr id="10" name="Oval 9"/>
          <p:cNvSpPr/>
          <p:nvPr/>
        </p:nvSpPr>
        <p:spPr>
          <a:xfrm>
            <a:off x="745209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72120" y="1512000"/>
            <a:ext cx="1872000" cy="100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</a:rPr>
              <a:t>5️⃣ 自我实现
学习/成长</a:t>
            </a:r>
          </a:p>
        </p:txBody>
      </p:sp>
      <p:sp>
        <p:nvSpPr>
          <p:cNvPr id="12" name="Oval 11"/>
          <p:cNvSpPr/>
          <p:nvPr/>
        </p:nvSpPr>
        <p:spPr>
          <a:xfrm>
            <a:off x="9708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168000"/>
            <a:ext cx="1089612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每层数据源都有独立隐私级别：🟢开放 / 🟡摘要 / 🔴禁止 / 🔵授权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生理：外卖订单🟢 / 健康趋势🟡 / 医疗记录🔴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安全：快递状态🟢 / 账单提醒🟡 / 财务明细🔴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社交：公开群聊🟢 / 私聊摘要🟡 / 私密对话🔴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④ 尊重：任务日程🟢 / 工作文档标题🟡 / 薪资绩效🔴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⑤ 自我实现：公开学习🟢 / 学习进度🟡 / 私人日记🔴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12个核心用例：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覆盖日常生活全场景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440000"/>
            <a:ext cx="2448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🚗 通勤提醒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64040" y="1440000"/>
            <a:ext cx="2448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🍜 午餐推荐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0080" y="1440000"/>
            <a:ext cx="2448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📱 重要消息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6120" y="1440000"/>
            <a:ext cx="2448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🔋 低电量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2376000"/>
            <a:ext cx="2448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🌙 睡前摘要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4040" y="2376000"/>
            <a:ext cx="2448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📦 快递到达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0080" y="2376000"/>
            <a:ext cx="2448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🏃 运动提醒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6120" y="2376000"/>
            <a:ext cx="2448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📧 消息堆积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" y="3312000"/>
            <a:ext cx="2448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🚗 回家路况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4040" y="3312000"/>
            <a:ext cx="2448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😴 睡眠建议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0080" y="3312000"/>
            <a:ext cx="2448000" cy="79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📅 会议准备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6120" y="3312000"/>
            <a:ext cx="2448000" cy="79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</a:rPr>
              <a:t>🔇 自动静音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4500000"/>
            <a:ext cx="1089612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MVP（4周）：通勤提醒 + 重要消息 + 低电量 + 睡前摘要 — 触发条件简单，价值高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Phase 2（4周）：午餐推荐 + 消息堆积 + 会议准备 + 快递到达 — 需通知拦截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Phase 3（4周）：运动提醒 + 睡眠建议 + 自动静音 + 回家路况 — 需持续传感器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C++引擎：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9大核心模块，全部本地运行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440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RuleCompiler
规则编译器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6060" y="1440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DecisionTree
决策树执行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04120" y="1440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SoftMatcher
软匹配器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448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RobustLinUCB
LinUCB策略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6060" y="2448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EventRingBuffer
事件环形缓冲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4120" y="2448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CooldownManager
冷却管理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000" y="3456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DecisionTracer
决策追溯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6060" y="3456000"/>
            <a:ext cx="3240000" cy="8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FeedbackValidator
异常检测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4120" y="3456000"/>
            <a:ext cx="3240000" cy="864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ModelCheckpoint
检查点管理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680000"/>
            <a:ext cx="108961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LinUCB 内存占用：A(40×40) × 10动作 × 4字节 ≈ 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70KB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决策延迟：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&lt;0.01ms</a:t>
            </a:r>
            <a:r>
              <a:rPr sz="1300">
                <a:solidFill>
                  <a:srgbClr val="000000"/>
                </a:solidFill>
                <a:latin typeface="微软雅黑"/>
              </a:rPr>
              <a:t>（纯矩阵运算）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总存储：</a:t>
            </a:r>
            <a:r>
              <a:rPr sz="1300" b="1">
                <a:solidFill>
                  <a:srgbClr val="0000FF"/>
                </a:solidFill>
                <a:latin typeface="微软雅黑"/>
              </a:rPr>
              <a:t>&lt; 5MB</a:t>
            </a:r>
            <a:r>
              <a:rPr sz="1300">
                <a:solidFill>
                  <a:srgbClr val="000000"/>
                </a:solidFill>
                <a:latin typeface="微软雅黑"/>
              </a:rPr>
              <a:t>（规则+模型+事件缓冲+日志）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NAPI 桥接层封装 JSON 序列化，ArkTS 通过 libruleengine.so 调用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78000"/>
            <a:ext cx="10896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990000"/>
                </a:solidFill>
                <a:latin typeface="微软雅黑"/>
              </a:rPr>
              <a:t>实施路线图：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4个阶段，从规则到智能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8000" y="1512000"/>
            <a:ext cx="2448000" cy="1620000"/>
          </a:xfrm>
          <a:prstGeom prst="round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MVP
4周
─────
硬匹配决策树
模板通知
统计学习
4个核心用例</a:t>
            </a:r>
          </a:p>
        </p:txBody>
      </p:sp>
      <p:sp>
        <p:nvSpPr>
          <p:cNvPr id="4" name="Oval 3"/>
          <p:cNvSpPr/>
          <p:nvPr/>
        </p:nvSpPr>
        <p:spPr>
          <a:xfrm>
            <a:off x="68400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68000" y="2142000"/>
            <a:ext cx="224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64040" y="1512000"/>
            <a:ext cx="2448000" cy="1620000"/>
          </a:xfrm>
          <a:prstGeom prst="roundRect">
            <a:avLst/>
          </a:prstGeom>
          <a:solidFill>
            <a:srgbClr val="DC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Phase 2
4周
─────
软匹配+LinUCB
通知拦截
概率分布编码
8个用例</a:t>
            </a:r>
          </a:p>
        </p:txBody>
      </p:sp>
      <p:sp>
        <p:nvSpPr>
          <p:cNvPr id="7" name="Oval 6"/>
          <p:cNvSpPr/>
          <p:nvPr/>
        </p:nvSpPr>
        <p:spPr>
          <a:xfrm>
            <a:off x="350004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4040" y="2142000"/>
            <a:ext cx="224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0080" y="1512000"/>
            <a:ext cx="2448000" cy="1620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Phase 3
4周
─────
时序规则+语音
5层鲁棒性
事件缓冲
12个用例</a:t>
            </a:r>
          </a:p>
        </p:txBody>
      </p:sp>
      <p:sp>
        <p:nvSpPr>
          <p:cNvPr id="10" name="Oval 9"/>
          <p:cNvSpPr/>
          <p:nvPr/>
        </p:nvSpPr>
        <p:spPr>
          <a:xfrm>
            <a:off x="631608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00080" y="2142000"/>
            <a:ext cx="224040" cy="360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6120" y="1512000"/>
            <a:ext cx="2448000" cy="1620000"/>
          </a:xfrm>
          <a:prstGeom prst="round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Phase 4
持续
─────
LLM兜底
联邦学习
更多插件
完整系统</a:t>
            </a:r>
          </a:p>
        </p:txBody>
      </p:sp>
      <p:sp>
        <p:nvSpPr>
          <p:cNvPr id="13" name="Oval 12"/>
          <p:cNvSpPr/>
          <p:nvPr/>
        </p:nvSpPr>
        <p:spPr>
          <a:xfrm>
            <a:off x="9132120" y="1404000"/>
            <a:ext cx="288000" cy="28800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780000"/>
            <a:ext cx="1089612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① MVP Week1: C++决策树+NAPI → Week2: 4个感知插件 → Week3: 通知推送 → Week4: 统计学习+UI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② Phase 2: 概率分布编码 + LinUCB强化学习 + 通知拦截能力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③ Phase 3: 时序规则引擎 + TTS语音播报 + 完整鲁棒性防护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④ Phase 4: LLM兜底决策 + 更多感知插件 + 系统级集成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微软雅黑"/>
              </a:rPr>
              <a:t>端侧训练路线：统计学习(MVP) → C++手写LinUCB(P2) → MindSpore Lite(P3)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